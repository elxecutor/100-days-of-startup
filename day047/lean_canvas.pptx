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1597680"/>
            <a:ext cx="7772040" cy="110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825377B-7A10-40B0-82B9-A284CB5184B3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92E406A-6E7E-48E0-9EEB-CD3F3BC4BC3F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05920"/>
            <a:ext cx="2057040" cy="438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05920"/>
            <a:ext cx="6019560" cy="438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0CFCEF7-BBB6-497E-AC98-F2C4E54DBC70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2ABBA1C-3A5B-4AEA-9C74-389E99E30AB3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3305160"/>
            <a:ext cx="7772040" cy="102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343080">
              <a:lnSpc>
                <a:spcPct val="100000"/>
              </a:lnSpc>
              <a:buNone/>
              <a:defRPr lang="en-US" sz="3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buNone/>
            </a:pPr>
            <a:r>
              <a:rPr lang="en-US" sz="3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180160"/>
            <a:ext cx="7772040" cy="1124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34308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  <a:defRPr lang="en-US" sz="15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5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D1B512F-2B3D-43B2-8B9A-19856C0D6094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3812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200240"/>
            <a:ext cx="403812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AA74A50-51DC-4AE0-A743-44127565AC0C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151280"/>
            <a:ext cx="4039920" cy="47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34308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1631160"/>
            <a:ext cx="4039920" cy="296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151280"/>
            <a:ext cx="4041360" cy="47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34308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1631160"/>
            <a:ext cx="4041360" cy="296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6D30C58-66BE-4F8F-8A48-EFA7AF531697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EE7AF96-E0E9-43D4-8382-D05E7DCF5A78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56F644E-4FA0-445F-925E-D6CF79FB929D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343080">
              <a:lnSpc>
                <a:spcPct val="100000"/>
              </a:lnSpc>
              <a:buNone/>
              <a:def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buNone/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5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04840"/>
            <a:ext cx="5111280" cy="438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34308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  <a:def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BE21E92-8191-4A5B-AE70-B45A43CB53B2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3600360"/>
            <a:ext cx="5486040" cy="4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343080">
              <a:lnSpc>
                <a:spcPct val="100000"/>
              </a:lnSpc>
              <a:buNone/>
              <a:def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buNone/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5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459720"/>
            <a:ext cx="5486040" cy="3085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343080">
              <a:spcBef>
                <a:spcPts val="21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spcBef>
                <a:spcPts val="42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spcBef>
                <a:spcPts val="3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spcBef>
                <a:spcPts val="3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343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343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343080">
              <a:spcBef>
                <a:spcPts val="21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lvl="1" algn="l" defTabSz="343080">
              <a:spcBef>
                <a:spcPts val="42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2" algn="l" defTabSz="343080"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3" algn="l" defTabSz="343080">
              <a:spcBef>
                <a:spcPts val="3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4" algn="l" defTabSz="343080">
              <a:spcBef>
                <a:spcPts val="3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5" algn="l" defTabSz="343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6" algn="l" defTabSz="343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4025520"/>
            <a:ext cx="5486040" cy="60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34308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  <a:def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BE27214-BF90-424D-A009-02533DF3A37E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722160" y="3305160"/>
            <a:ext cx="7772040" cy="102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Lean Canvas — AntennaForge</a:t>
            </a:r>
            <a:endParaRPr lang="en-US" sz="3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722160" y="3305160"/>
            <a:ext cx="7772040" cy="102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Day 047</a:t>
            </a:r>
            <a:endParaRPr lang="en-US" sz="3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1. Problem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560" y="457200"/>
            <a:ext cx="8229240" cy="4343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Top 3 problems the customer faces: 1.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Cost barrier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— Ansys HFSS ($30k/yr), CST ($20k/yr), Altair Feko ($15k/yr) price out small teams and independents. 2.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Desktop lock-in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— Simulations tie up the engineer’s machine for hours. No collaboration. No remote access. 3.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 feedback loop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— After installation, real-world antenna performance is never compared back to the simulation. Engineers design blind.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Existing alternatives: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- Desktop EM tools (HFSS, CST, Feko) — expensive, single-user, steep learning curve - Open-source solvers (OpenEMS, gprMax) — no UI, CLI-only, no support - Spreadsheets + hand calculations — inaccurate, unscalable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" name="Content Placeholder 5"/>
          <p:cNvGraphicFramePr/>
          <p:nvPr/>
        </p:nvGraphicFramePr>
        <p:xfrm>
          <a:off x="815040" y="2361960"/>
          <a:ext cx="7643160" cy="2838600"/>
        </p:xfrm>
        <a:graphic>
          <a:graphicData uri="http://schemas.openxmlformats.org/drawingml/2006/table">
            <a:tbl>
              <a:tblPr/>
              <a:tblGrid>
                <a:gridCol w="1963440"/>
                <a:gridCol w="2402280"/>
                <a:gridCol w="1754280"/>
                <a:gridCol w="1523160"/>
              </a:tblGrid>
              <a:tr h="259560">
                <a:tc>
                  <a:txBody>
                    <a:bodyPr anchor="t">
                      <a:noAutofit/>
                    </a:bodyPr>
                    <a:p>
                      <a:pPr algn="ctr"/>
                      <a:r>
                        <a:rPr lang="en-US" sz="11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DejaVu Sans"/>
                        </a:rPr>
                        <a:t>Segment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/>
                      <a:r>
                        <a:rPr lang="en-US" sz="11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DejaVu Sans"/>
                        </a:rPr>
                        <a:t>Pain Level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/>
                      <a:r>
                        <a:rPr lang="en-US" sz="11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DejaVu Sans"/>
                        </a:rPr>
                        <a:t>Budget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/>
                      <a:r>
                        <a:rPr lang="en-US" sz="11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DejaVu Sans"/>
                        </a:rPr>
                        <a:t>Reach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427320">
                <a:tc>
                  <a:txBody>
                    <a:bodyPr anchor="t">
                      <a:noAutofit/>
                    </a:bodyPr>
                    <a:p>
                      <a:pPr 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DejaVu Sans"/>
                        </a:rPr>
                        <a:t>Independent RF consultants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DejaVu Sans"/>
                        </a:rPr>
                        <a:t>🔴 High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DejaVu Sans"/>
                        </a:rPr>
                        <a:t>$50-100/mo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DejaVu Sans"/>
                        </a:rPr>
                        <a:t>LinkedIn, Upwork, IEEE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27320">
                <a:tc>
                  <a:txBody>
                    <a:bodyPr anchor="t">
                      <a:noAutofit/>
                    </a:bodyPr>
                    <a:p>
                      <a:pPr 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DejaVu Sans"/>
                        </a:rPr>
                        <a:t>IoT hardware startups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 anchorCtr="1">
                      <a:noAutofit/>
                    </a:bodyPr>
                    <a:p>
                      <a:pPr algn="ctr"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🔴 High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DejaVu Sans"/>
                        </a:rPr>
                        <a:t>$30-80/mo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DejaVu Sans"/>
                        </a:rPr>
                        <a:t>YC, HAX, Hardware Club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427320">
                <a:tc>
                  <a:txBody>
                    <a:bodyPr anchor="t">
                      <a:noAutofit/>
                    </a:bodyPr>
                    <a:p>
                      <a:pPr 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DejaVu Sans"/>
                        </a:rPr>
                        <a:t>Mid-size telecom OEMs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DejaVu Sans"/>
                        </a:rPr>
                        <a:t>🟡 Medium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DejaVu Sans"/>
                        </a:rPr>
                        <a:t>$200-500/mo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DejaVu Sans"/>
                        </a:rPr>
                        <a:t>LinkedIn, trade shows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27320">
                <a:tc>
                  <a:txBody>
                    <a:bodyPr anchor="t">
                      <a:noAutofit/>
                    </a:bodyPr>
                    <a:p>
                      <a:pPr 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DejaVu Sans"/>
                        </a:rPr>
                        <a:t>University research labs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DejaVu Sans"/>
                        </a:rPr>
                        <a:t>🟡 Medium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DejaVu Sans"/>
                        </a:rPr>
                        <a:t>$0-50/mo (edu)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DejaVu Sans"/>
                        </a:rPr>
                        <a:t>Published papers, IEEE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427320">
                <a:tc>
                  <a:txBody>
                    <a:bodyPr anchor="t">
                      <a:noAutofit/>
                    </a:bodyPr>
                    <a:p>
                      <a:pPr 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DejaVu Sans"/>
                        </a:rPr>
                        <a:t>Field installation engineers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DejaVu Sans"/>
                        </a:rPr>
                        <a:t>🔴 High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DejaVu Sans"/>
                        </a:rPr>
                        <a:t>$20-40/mo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DejaVu Sans"/>
                        </a:rPr>
                        <a:t>LinkedIn, trade schools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 Customer Segments</a:t>
            </a:r>
            <a:endParaRPr lang="en-US" sz="15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200400" cy="52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34308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</a:pPr>
            <a:r>
              <a:rPr lang="en-US" sz="105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Target customers (early adopters first):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Early adopter profile: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RF consultant or IoT engineer who currently avoids simulation (or uses outdated methods) because they cannot justify $15k+ for a tool they use 5-10 hours per week.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 Unique Value Proposition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1270080" indent="0" algn="l" defTabSz="34308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AntennaForge lets RF engineers design, simulate, and monitor antennas entirely in the browser — without $15k licenses, without workstation lock-up, and with real-world performance data closing the loop — starting at $49/month.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High-concept pitch: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“Figma for antenna design — but it also runs the simulations.”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One-word UVP: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Accessible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— professional antenna simulation that anyone can use, anywhere, at any budget.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 Solution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What we build to solve the problem: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Cloud-native simulator</a:t>
            </a: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— 6 antenna types (dipole, patch, helical, monopole, Yagi, loop) with analytical models returning VSWR, gain, impedance, bandwidth, efficiency, S-parameters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Queue-based solving</a:t>
            </a: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— simulations run on our cluster; engineer closes laptop and gets a notification when done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Team sharing</a:t>
            </a: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— share results via link, no file exports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S-parameter sweep</a:t>
            </a: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— sweep frequency and plot S11 to find resonance and measure bandwidth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REST API</a:t>
            </a: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— automate simulations, integrate into CI/CD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Touchstone export</a:t>
            </a: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— export to .s1p format for import into system design tools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Future: performance monitoring</a:t>
            </a: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— upload VNA measurements and compare against simulation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 Channels</a:t>
            </a:r>
            <a:endParaRPr lang="en-US" sz="15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34308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How we reach customers: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73" name="Content Placeholder 5"/>
          <p:cNvGraphicFramePr/>
          <p:nvPr/>
        </p:nvGraphicFramePr>
        <p:xfrm>
          <a:off x="3568680" y="203040"/>
          <a:ext cx="5105160" cy="4753800"/>
        </p:xfrm>
        <a:graphic>
          <a:graphicData uri="http://schemas.openxmlformats.org/drawingml/2006/table">
            <a:tbl>
              <a:tblPr/>
              <a:tblGrid>
                <a:gridCol w="1244520"/>
                <a:gridCol w="825480"/>
                <a:gridCol w="825480"/>
                <a:gridCol w="220968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Channel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Type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Cost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Expected Volume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LinkedIn (RF groups, ads)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Organic + Paid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$500/mo ads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500 visitors/mo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Technical SEO (tutorials)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Organic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$0 (time)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2000 visits/mo (month 6)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Hardware accelerators (HAX, Bolt)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Partnership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Free licenses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 startup signups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Product Hunt launch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Launch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$0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1000 visits (launch week)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IEEE conferences (virtual booth)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Paid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$1000/event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200 leads/event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RF component distributors (Digi-Key, Mouser)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Partnership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Rev share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100 signups/mo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 Revenue Streams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75" name="Content Placeholder 5"/>
          <p:cNvGraphicFramePr/>
          <p:nvPr/>
        </p:nvGraphicFramePr>
        <p:xfrm>
          <a:off x="457200" y="1193760"/>
          <a:ext cx="8216640" cy="2492640"/>
        </p:xfrm>
        <a:graphic>
          <a:graphicData uri="http://schemas.openxmlformats.org/drawingml/2006/table">
            <a:tbl>
              <a:tblPr/>
              <a:tblGrid>
                <a:gridCol w="1993680"/>
                <a:gridCol w="1739880"/>
                <a:gridCol w="1739880"/>
                <a:gridCol w="274320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Stream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Model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Price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Target Mix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Starter subscription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Monthly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$49/mo (50 sims)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50% of revenue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Professional subscription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Monthly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$149/mo (200 sims)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30% of revenue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Team subscription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Monthly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$399/mo (1000 sims)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15% of revenue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Enterprise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Custom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Custom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5% of revenue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Simulation overage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Usage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$1-2/sim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&lt;5% of revenue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Education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Discounted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$20/mo flat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Brand awareness, low margin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Pricing philosophy: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90% cheaper than legacy tools. Price based on usage (simulations/month), not seats.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Revenue targets: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- Month 1: $500 MRR - Month 3: $3,000 MRR - Month 6: $15,000 MRR - Month 12: $60,000 MRR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 Cost Structure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78" name="Content Placeholder 5"/>
          <p:cNvGraphicFramePr/>
          <p:nvPr/>
        </p:nvGraphicFramePr>
        <p:xfrm>
          <a:off x="457200" y="1193760"/>
          <a:ext cx="8229240" cy="20815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Category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Monthly Cost (at scale)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Notes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Cloud compute (AWS ECS)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$2,000-5,000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Solver workers, mostly idle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Database (RDS PostgreSQL)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$200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Managed DB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Domain + email + tools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$100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Vercel, HubSpot, Crisp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Engineering salaries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$15,000-25,000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2-3 full-time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Marketing (ads + events)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$2,000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LinkedIn, IEEE booths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Total burn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$20,000-32,000/mo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Break-even MRR: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~$22,000/mo (at 70% gross margin)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8. Key Metrics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81" name="Content Placeholder 5"/>
          <p:cNvGraphicFramePr/>
          <p:nvPr/>
        </p:nvGraphicFramePr>
        <p:xfrm>
          <a:off x="457200" y="1193760"/>
          <a:ext cx="8229240" cy="2790000"/>
        </p:xfrm>
        <a:graphic>
          <a:graphicData uri="http://schemas.openxmlformats.org/drawingml/2006/table">
            <a:tbl>
              <a:tblPr/>
              <a:tblGrid>
                <a:gridCol w="2120760"/>
                <a:gridCol w="2120760"/>
                <a:gridCol w="398772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Metric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Target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Why It Matters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North Star: Sims completed/week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Growing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Direct measure of value delivered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Trial-to-paid conversion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&gt;25%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Product-market fit signal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Monthly churn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&lt;5%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Retention viability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CAC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&lt;$200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Unit economics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LTV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&gt;$2,000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Must be &gt;3x CAC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Activation rate (1st sim in 48h)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&gt;60%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Onboarding quality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Simulation success rate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&gt;99%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Technical reliability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9. Unfair Advantage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Something that cannot be easily copied or bought: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Domain expertise intersection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— Deep knowledge of both RF engineering and cloud-native architecture. Most RF engineers cannot build cloud infrastructure. Most cloud engineers do not understand antenna physics.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Data network effect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— As more users simulate and upload real-world measurements, the comparison database becomes more valuable. Engineers can see “how does my antenna compare to 100 similar designs?”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Closed-loop design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— The ability to compare simulation vs real-world performance (via VNA upload) is a feature no existing tool offers. It turns a one-time design tool into a continuous improvement platform.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Known Risks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85" name="Content Placeholder 5"/>
          <p:cNvGraphicFramePr/>
          <p:nvPr/>
        </p:nvGraphicFramePr>
        <p:xfrm>
          <a:off x="457200" y="1193760"/>
          <a:ext cx="8229240" cy="3017520"/>
        </p:xfrm>
        <a:graphic>
          <a:graphicData uri="http://schemas.openxmlformats.org/drawingml/2006/table">
            <a:tbl>
              <a:tblPr/>
              <a:tblGrid>
                <a:gridCol w="1828800"/>
                <a:gridCol w="3047760"/>
                <a:gridCol w="335268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Risk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Severity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Mitigation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Simulation accuracy not trusted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🔴 High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Part-time RF contractor validates every solver; publish validation reports against published reference designs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Cloud compute costs too high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🟡 Medium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Queue-based solves + spot instances; cap free tier simulations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Customers prefer desktop tools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🟡 Medium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Target those who </a:t>
                      </a:r>
                      <a:r>
                        <a:rPr lang="en-US" sz="135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cannot</a:t>
                      </a: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afford desktop tools first (beachhead)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OpenEMS solver insufficient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🟡 Medium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Wrap multiple open-source solvers; abstract engine so we can swap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Long enterprise sales cycle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🟢 Low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Focus on self-serve $49 plan first; enterprise later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“Make antenna simulation accessible to every engineer, not just those with $30k budgets.”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LibreOffice/26.2.2.2$Linux_X86_64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2026-06-23T09:36:59Z</dcterms:created>
  <dc:creator/>
  <dc:description/>
  <dc:language>en-US</dc:language>
  <cp:lastModifiedBy/>
  <dcterms:modified xsi:type="dcterms:W3CDTF">2026-06-23T10:42:33Z</dcterms:modified>
  <cp:revision>1</cp:revision>
  <dc:subject/>
  <dc:title/>
</cp:coreProperties>
</file>